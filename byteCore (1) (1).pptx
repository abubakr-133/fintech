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4" r:id="rId7"/>
    <p:sldId id="262" r:id="rId8"/>
    <p:sldId id="261" r:id="rId9"/>
  </p:sldIdLst>
  <p:sldSz cx="18288000" cy="10287000"/>
  <p:notesSz cx="6858000" cy="9144000"/>
  <p:embeddedFontLst>
    <p:embeddedFont>
      <p:font typeface="Arsenal Bold" panose="020B0604020202020204" charset="0"/>
      <p:regular r:id="rId11"/>
    </p:embeddedFont>
    <p:embeddedFont>
      <p:font typeface="Lovelo" panose="020B0604020202020204" charset="0"/>
      <p:regular r:id="rId12"/>
    </p:embeddedFont>
    <p:embeddedFont>
      <p:font typeface="Montserrat Bold" panose="020B0604020202020204" charset="0"/>
      <p:regular r:id="rId13"/>
    </p:embeddedFont>
    <p:embeddedFont>
      <p:font typeface="RQND Pro Wid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72" y="-3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08022-57C9-4D40-A631-C5A8B7D1EB24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F6A1F-49A4-49B3-808D-8FAE0CB5BF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7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F6A1F-49A4-49B3-808D-8FAE0CB5BF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321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A6986-7A37-6DFB-82D7-16245EA6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DFAD4-9547-7481-55F9-23EF1E9A6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74D08-0177-ED04-1975-8433758A8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0A218-7342-67E8-69F5-C045434F7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F6A1F-49A4-49B3-808D-8FAE0CB5BFD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371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CC984-06B7-DD3F-E158-E661E549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39CA7-66D1-EEAE-FE88-F863B252B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846C5-5A2A-E520-9ADD-362CB9833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5552A-7A70-51CC-6809-9BF8587A6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F6A1F-49A4-49B3-808D-8FAE0CB5BF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067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7492249" y="-7796819"/>
            <a:ext cx="3303502" cy="18640211"/>
            <a:chOff x="0" y="0"/>
            <a:chExt cx="870058" cy="49093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0058" cy="4909356"/>
            </a:xfrm>
            <a:custGeom>
              <a:avLst/>
              <a:gdLst/>
              <a:ahLst/>
              <a:cxnLst/>
              <a:rect l="l" t="t" r="r" b="b"/>
              <a:pathLst>
                <a:path w="870058" h="4909356">
                  <a:moveTo>
                    <a:pt x="0" y="0"/>
                  </a:moveTo>
                  <a:lnTo>
                    <a:pt x="870058" y="0"/>
                  </a:lnTo>
                  <a:lnTo>
                    <a:pt x="870058" y="4909356"/>
                  </a:lnTo>
                  <a:lnTo>
                    <a:pt x="0" y="4909356"/>
                  </a:lnTo>
                  <a:close/>
                </a:path>
              </a:pathLst>
            </a:custGeom>
            <a:gradFill rotWithShape="1">
              <a:gsLst>
                <a:gs pos="0">
                  <a:srgbClr val="222222">
                    <a:alpha val="100000"/>
                  </a:srgbClr>
                </a:gs>
                <a:gs pos="100000">
                  <a:srgbClr val="222222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70058" cy="4966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797947" y="4771778"/>
            <a:ext cx="9036970" cy="4680508"/>
            <a:chOff x="0" y="0"/>
            <a:chExt cx="12049293" cy="6240677"/>
          </a:xfrm>
        </p:grpSpPr>
        <p:grpSp>
          <p:nvGrpSpPr>
            <p:cNvPr id="7" name="Group 7"/>
            <p:cNvGrpSpPr/>
            <p:nvPr/>
          </p:nvGrpSpPr>
          <p:grpSpPr>
            <a:xfrm>
              <a:off x="492123" y="1560291"/>
              <a:ext cx="1150617" cy="283179"/>
              <a:chOff x="0" y="0"/>
              <a:chExt cx="141010" cy="347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92123" y="1105449"/>
              <a:ext cx="1150617" cy="283179"/>
              <a:chOff x="0" y="0"/>
              <a:chExt cx="141010" cy="3470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11483318" y="3120338"/>
              <a:ext cx="565975" cy="564164"/>
            </a:xfrm>
            <a:custGeom>
              <a:avLst/>
              <a:gdLst/>
              <a:ahLst/>
              <a:cxnLst/>
              <a:rect l="l" t="t" r="r" b="b"/>
              <a:pathLst>
                <a:path w="565975" h="564164">
                  <a:moveTo>
                    <a:pt x="0" y="0"/>
                  </a:moveTo>
                  <a:lnTo>
                    <a:pt x="565975" y="0"/>
                  </a:lnTo>
                  <a:lnTo>
                    <a:pt x="565975" y="564165"/>
                  </a:lnTo>
                  <a:lnTo>
                    <a:pt x="0" y="564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443960"/>
              <a:ext cx="11407959" cy="30765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96"/>
                </a:lnSpc>
              </a:pPr>
              <a:r>
                <a:rPr lang="en-US" sz="13926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550796" y="0"/>
              <a:ext cx="6306368" cy="6240677"/>
            </a:xfrm>
            <a:custGeom>
              <a:avLst/>
              <a:gdLst/>
              <a:ahLst/>
              <a:cxnLst/>
              <a:rect l="l" t="t" r="r" b="b"/>
              <a:pathLst>
                <a:path w="6306368" h="6240677">
                  <a:moveTo>
                    <a:pt x="0" y="0"/>
                  </a:moveTo>
                  <a:lnTo>
                    <a:pt x="6306368" y="0"/>
                  </a:lnTo>
                  <a:lnTo>
                    <a:pt x="6306368" y="6240677"/>
                  </a:lnTo>
                  <a:lnTo>
                    <a:pt x="0" y="6240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623018" y="980678"/>
              <a:ext cx="2452152" cy="815901"/>
              <a:chOff x="0" y="0"/>
              <a:chExt cx="292941" cy="9747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8290229" y="1023040"/>
              <a:ext cx="3117731" cy="688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214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6107807" y="1037691"/>
            <a:ext cx="2683708" cy="2137346"/>
          </a:xfrm>
          <a:custGeom>
            <a:avLst/>
            <a:gdLst/>
            <a:ahLst/>
            <a:cxnLst/>
            <a:rect l="l" t="t" r="r" b="b"/>
            <a:pathLst>
              <a:path w="2683708" h="2137346">
                <a:moveTo>
                  <a:pt x="0" y="0"/>
                </a:moveTo>
                <a:lnTo>
                  <a:pt x="2683708" y="0"/>
                </a:lnTo>
                <a:lnTo>
                  <a:pt x="2683708" y="2137346"/>
                </a:lnTo>
                <a:lnTo>
                  <a:pt x="0" y="21373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563" r="-16104" b="-12314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>
            <a:off x="9661295" y="1135623"/>
            <a:ext cx="2201427" cy="1941483"/>
          </a:xfrm>
          <a:custGeom>
            <a:avLst/>
            <a:gdLst/>
            <a:ahLst/>
            <a:cxnLst/>
            <a:rect l="l" t="t" r="r" b="b"/>
            <a:pathLst>
              <a:path w="2201427" h="1941483">
                <a:moveTo>
                  <a:pt x="0" y="0"/>
                </a:moveTo>
                <a:lnTo>
                  <a:pt x="2201427" y="0"/>
                </a:lnTo>
                <a:lnTo>
                  <a:pt x="2201427" y="1941483"/>
                </a:lnTo>
                <a:lnTo>
                  <a:pt x="0" y="19414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402" t="-42341" r="-29270" b="-3530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>
            <a:off x="8851104" y="1814001"/>
            <a:ext cx="585793" cy="584728"/>
          </a:xfrm>
          <a:custGeom>
            <a:avLst/>
            <a:gdLst/>
            <a:ahLst/>
            <a:cxnLst/>
            <a:rect l="l" t="t" r="r" b="b"/>
            <a:pathLst>
              <a:path w="585793" h="584728">
                <a:moveTo>
                  <a:pt x="0" y="0"/>
                </a:moveTo>
                <a:lnTo>
                  <a:pt x="585792" y="0"/>
                </a:lnTo>
                <a:lnTo>
                  <a:pt x="585792" y="584727"/>
                </a:lnTo>
                <a:lnTo>
                  <a:pt x="0" y="58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Box 23"/>
          <p:cNvSpPr txBox="1"/>
          <p:nvPr/>
        </p:nvSpPr>
        <p:spPr>
          <a:xfrm>
            <a:off x="7522496" y="3205571"/>
            <a:ext cx="3243007" cy="855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15"/>
              </a:lnSpc>
            </a:pPr>
            <a:r>
              <a:rPr lang="en-US" sz="5010" b="1" dirty="0">
                <a:solidFill>
                  <a:srgbClr val="FFFFFF"/>
                </a:solidFill>
                <a:latin typeface="Arsenal Bold"/>
                <a:ea typeface="Arsenal Bold"/>
                <a:cs typeface="Arsenal Bold"/>
                <a:sym typeface="Arsenal Bold"/>
              </a:rPr>
              <a:t>PRESENTS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04957" y="7693363"/>
            <a:ext cx="1566649" cy="356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17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24 HOUR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74957" y="7693363"/>
            <a:ext cx="1795469" cy="356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6"/>
              </a:lnSpc>
            </a:pPr>
            <a:r>
              <a:rPr lang="en-US" sz="2176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DATATHON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04373" y="126721"/>
            <a:ext cx="3100960" cy="1606077"/>
            <a:chOff x="0" y="0"/>
            <a:chExt cx="4134613" cy="2141436"/>
          </a:xfrm>
        </p:grpSpPr>
        <p:grpSp>
          <p:nvGrpSpPr>
            <p:cNvPr id="4" name="Group 4"/>
            <p:cNvGrpSpPr/>
            <p:nvPr/>
          </p:nvGrpSpPr>
          <p:grpSpPr>
            <a:xfrm>
              <a:off x="168868" y="535401"/>
              <a:ext cx="394825" cy="97171"/>
              <a:chOff x="0" y="0"/>
              <a:chExt cx="141010" cy="3470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68868" y="379325"/>
              <a:ext cx="394825" cy="97171"/>
              <a:chOff x="0" y="0"/>
              <a:chExt cx="141010" cy="347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940404" y="1070718"/>
              <a:ext cx="194210" cy="193588"/>
            </a:xfrm>
            <a:custGeom>
              <a:avLst/>
              <a:gdLst/>
              <a:ahLst/>
              <a:cxnLst/>
              <a:rect l="l" t="t" r="r" b="b"/>
              <a:pathLst>
                <a:path w="194210" h="193588">
                  <a:moveTo>
                    <a:pt x="0" y="0"/>
                  </a:moveTo>
                  <a:lnTo>
                    <a:pt x="194209" y="0"/>
                  </a:lnTo>
                  <a:lnTo>
                    <a:pt x="194209" y="193588"/>
                  </a:lnTo>
                  <a:lnTo>
                    <a:pt x="0" y="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85492"/>
              <a:ext cx="3914545" cy="1065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8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5284" y="0"/>
              <a:ext cx="2163977" cy="2141436"/>
            </a:xfrm>
            <a:custGeom>
              <a:avLst/>
              <a:gdLst/>
              <a:ahLst/>
              <a:cxnLst/>
              <a:rect l="l" t="t" r="r" b="b"/>
              <a:pathLst>
                <a:path w="2163977" h="2141436">
                  <a:moveTo>
                    <a:pt x="0" y="0"/>
                  </a:moveTo>
                  <a:lnTo>
                    <a:pt x="2163977" y="0"/>
                  </a:lnTo>
                  <a:lnTo>
                    <a:pt x="2163977" y="2141436"/>
                  </a:lnTo>
                  <a:lnTo>
                    <a:pt x="0" y="214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8916" y="336511"/>
              <a:ext cx="841435" cy="279970"/>
              <a:chOff x="0" y="0"/>
              <a:chExt cx="292941" cy="9747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844722" y="342083"/>
              <a:ext cx="1069823" cy="24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4"/>
                </a:lnSpc>
              </a:pPr>
              <a:r>
                <a:rPr lang="en-US" sz="1103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909399" y="677030"/>
            <a:ext cx="8469202" cy="74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6500">
                <a:solidFill>
                  <a:srgbClr val="619BCC"/>
                </a:solidFill>
                <a:latin typeface="RQND Pro Wide"/>
                <a:ea typeface="RQND Pro Wide"/>
                <a:cs typeface="RQND Pro Wide"/>
                <a:sym typeface="RQND Pro Wide"/>
              </a:rPr>
              <a:t>TEAM DETAILS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6279" y="1817436"/>
            <a:ext cx="503208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Team Name : ByteCore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4353" y="3635741"/>
            <a:ext cx="16766880" cy="1333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Project Title : XAI-Driven ML Framework for Optimizing International Capital Movements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2521" y="4951004"/>
            <a:ext cx="602268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Team Lead : Abdul Nasir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9922" y="5903240"/>
            <a:ext cx="6969676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Team Member 1 : Abdul Muizz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4353" y="2722376"/>
            <a:ext cx="4425135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Domain : FinTech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0692" y="6854408"/>
            <a:ext cx="7823308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Team Member 2 : Shaik Abubakr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0217" y="7805575"/>
            <a:ext cx="6899381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Team Member 3 : Syed Suhaib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0218" y="8756743"/>
            <a:ext cx="14366982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4349" b="1" spc="-217" dirty="0">
                <a:solidFill>
                  <a:schemeClr val="bg1"/>
                </a:solidFill>
                <a:latin typeface="Arsenal Bold"/>
                <a:ea typeface="Arsenal Bold"/>
                <a:cs typeface="Arsenal Bold"/>
                <a:sym typeface="Arsenal Bold"/>
              </a:rPr>
              <a:t>Name of the college : Lords Institute &amp; MVSR College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5086" y="349843"/>
            <a:ext cx="3100960" cy="1606077"/>
            <a:chOff x="0" y="0"/>
            <a:chExt cx="4134613" cy="2141436"/>
          </a:xfrm>
        </p:grpSpPr>
        <p:grpSp>
          <p:nvGrpSpPr>
            <p:cNvPr id="4" name="Group 4"/>
            <p:cNvGrpSpPr/>
            <p:nvPr/>
          </p:nvGrpSpPr>
          <p:grpSpPr>
            <a:xfrm>
              <a:off x="168868" y="535401"/>
              <a:ext cx="394825" cy="97171"/>
              <a:chOff x="0" y="0"/>
              <a:chExt cx="141010" cy="3470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68868" y="379325"/>
              <a:ext cx="394825" cy="97171"/>
              <a:chOff x="0" y="0"/>
              <a:chExt cx="141010" cy="347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940404" y="1070718"/>
              <a:ext cx="194210" cy="193588"/>
            </a:xfrm>
            <a:custGeom>
              <a:avLst/>
              <a:gdLst/>
              <a:ahLst/>
              <a:cxnLst/>
              <a:rect l="l" t="t" r="r" b="b"/>
              <a:pathLst>
                <a:path w="194210" h="193588">
                  <a:moveTo>
                    <a:pt x="0" y="0"/>
                  </a:moveTo>
                  <a:lnTo>
                    <a:pt x="194209" y="0"/>
                  </a:lnTo>
                  <a:lnTo>
                    <a:pt x="194209" y="193588"/>
                  </a:lnTo>
                  <a:lnTo>
                    <a:pt x="0" y="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85492"/>
              <a:ext cx="3914545" cy="1065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8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5284" y="0"/>
              <a:ext cx="2163977" cy="2141436"/>
            </a:xfrm>
            <a:custGeom>
              <a:avLst/>
              <a:gdLst/>
              <a:ahLst/>
              <a:cxnLst/>
              <a:rect l="l" t="t" r="r" b="b"/>
              <a:pathLst>
                <a:path w="2163977" h="2141436">
                  <a:moveTo>
                    <a:pt x="0" y="0"/>
                  </a:moveTo>
                  <a:lnTo>
                    <a:pt x="2163977" y="0"/>
                  </a:lnTo>
                  <a:lnTo>
                    <a:pt x="2163977" y="2141436"/>
                  </a:lnTo>
                  <a:lnTo>
                    <a:pt x="0" y="214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8916" y="336511"/>
              <a:ext cx="841435" cy="279970"/>
              <a:chOff x="0" y="0"/>
              <a:chExt cx="292941" cy="9747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844722" y="342083"/>
              <a:ext cx="1069823" cy="24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4"/>
                </a:lnSpc>
              </a:pPr>
              <a:r>
                <a:rPr lang="en-US" sz="1103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689794" y="442951"/>
            <a:ext cx="12173933" cy="141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6500" dirty="0">
                <a:solidFill>
                  <a:srgbClr val="619BCC"/>
                </a:solidFill>
                <a:latin typeface="RQND Pro Wide"/>
                <a:ea typeface="RQND Pro Wide"/>
                <a:cs typeface="RQND Pro Wide"/>
                <a:sym typeface="RQND Pro Wide"/>
              </a:rPr>
              <a:t>PROBLEM STATEMENT &amp; IDEA SOLUTION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5C89EC-884F-05E9-620A-552FF9B78168}"/>
              </a:ext>
            </a:extLst>
          </p:cNvPr>
          <p:cNvSpPr txBox="1"/>
          <p:nvPr/>
        </p:nvSpPr>
        <p:spPr>
          <a:xfrm>
            <a:off x="205086" y="2123201"/>
            <a:ext cx="8781597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PROBLEM STATEMENT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Cross-border capital movement is complex and opaque.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Money loses value due to Currency spreads, taxes, compliance delays, and jurisdiction risks.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Companies often have no visibility into where value leaks across global routes.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India alone lost nearly ₹12,000 crore due to unclear offshore routing and hidden frictions.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No existing system helps compare multi-hop pathways or understand legal routing advantages.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Stakeholders need a tool that can simulate, score, and optimize global capital flows transparently.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BACDD-496A-6EC3-6D0E-E69DBD914C61}"/>
              </a:ext>
            </a:extLst>
          </p:cNvPr>
          <p:cNvSpPr txBox="1"/>
          <p:nvPr/>
        </p:nvSpPr>
        <p:spPr>
          <a:xfrm>
            <a:off x="9144000" y="1950283"/>
            <a:ext cx="8938914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IDEA SOLUTION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Simulates 2–3 hop routes across international corridors.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Computes cost, speed, risk, compliance friction, FX, and taxes for each path.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Uses Machine Learning (</a:t>
            </a: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XGBoost</a:t>
            </a: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) to predict friction for each corridor.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Uses Explainable AI (SHAP) to show exactly why a route is expensive or risky.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Ranks routes based on user priorities: Cost, Time, and Risk.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Displays Recommended, Cheapest, Fastest, and Safest pathways.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Shows direct-route baseline vs optimized route savings in ₹ and %.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Provides visual graphs, results tables, and per-route explanations.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619BCC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AD014-2220-3912-3DAF-74C57F431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C515FF-7EED-3724-89AE-9CEA05A5148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C4A189-5500-24CB-D8F8-78884EFBD341}"/>
              </a:ext>
            </a:extLst>
          </p:cNvPr>
          <p:cNvGrpSpPr/>
          <p:nvPr/>
        </p:nvGrpSpPr>
        <p:grpSpPr>
          <a:xfrm>
            <a:off x="205086" y="349843"/>
            <a:ext cx="3100960" cy="1606077"/>
            <a:chOff x="0" y="0"/>
            <a:chExt cx="4134613" cy="214143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5CE712E-2A43-5F0B-F1F2-2D2B1B0D77F3}"/>
                </a:ext>
              </a:extLst>
            </p:cNvPr>
            <p:cNvGrpSpPr/>
            <p:nvPr/>
          </p:nvGrpSpPr>
          <p:grpSpPr>
            <a:xfrm>
              <a:off x="168868" y="535401"/>
              <a:ext cx="394825" cy="97171"/>
              <a:chOff x="0" y="0"/>
              <a:chExt cx="141010" cy="3470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DD6AB888-0EFA-3FE8-07E0-7423174F4364}"/>
                  </a:ext>
                </a:extLst>
              </p:cNvPr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BC73217-6C9B-F2E6-D16D-A49F19F68EFE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A714A45-9BA2-5C47-7353-EDB360EFFCC5}"/>
                </a:ext>
              </a:extLst>
            </p:cNvPr>
            <p:cNvGrpSpPr/>
            <p:nvPr/>
          </p:nvGrpSpPr>
          <p:grpSpPr>
            <a:xfrm>
              <a:off x="168868" y="379325"/>
              <a:ext cx="394825" cy="97171"/>
              <a:chOff x="0" y="0"/>
              <a:chExt cx="141010" cy="34704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F6D0AC6E-E257-6804-0999-21877286E5CC}"/>
                  </a:ext>
                </a:extLst>
              </p:cNvPr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DF16338-49DB-6951-9154-03246FB277E9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F6A0C25-22D2-F1CF-181C-EA2F0A332532}"/>
                </a:ext>
              </a:extLst>
            </p:cNvPr>
            <p:cNvSpPr/>
            <p:nvPr/>
          </p:nvSpPr>
          <p:spPr>
            <a:xfrm>
              <a:off x="3940404" y="1070718"/>
              <a:ext cx="194210" cy="193588"/>
            </a:xfrm>
            <a:custGeom>
              <a:avLst/>
              <a:gdLst/>
              <a:ahLst/>
              <a:cxnLst/>
              <a:rect l="l" t="t" r="r" b="b"/>
              <a:pathLst>
                <a:path w="194210" h="193588">
                  <a:moveTo>
                    <a:pt x="0" y="0"/>
                  </a:moveTo>
                  <a:lnTo>
                    <a:pt x="194209" y="0"/>
                  </a:lnTo>
                  <a:lnTo>
                    <a:pt x="194209" y="193588"/>
                  </a:lnTo>
                  <a:lnTo>
                    <a:pt x="0" y="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C788CDF-3DC9-62F3-3ACC-1AFF4CA1A789}"/>
                </a:ext>
              </a:extLst>
            </p:cNvPr>
            <p:cNvSpPr txBox="1"/>
            <p:nvPr/>
          </p:nvSpPr>
          <p:spPr>
            <a:xfrm>
              <a:off x="0" y="485492"/>
              <a:ext cx="3914545" cy="1065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8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2F1C885-3884-DFD5-306A-D4448B026550}"/>
                </a:ext>
              </a:extLst>
            </p:cNvPr>
            <p:cNvSpPr/>
            <p:nvPr/>
          </p:nvSpPr>
          <p:spPr>
            <a:xfrm>
              <a:off x="875284" y="0"/>
              <a:ext cx="2163977" cy="2141436"/>
            </a:xfrm>
            <a:custGeom>
              <a:avLst/>
              <a:gdLst/>
              <a:ahLst/>
              <a:cxnLst/>
              <a:rect l="l" t="t" r="r" b="b"/>
              <a:pathLst>
                <a:path w="2163977" h="2141436">
                  <a:moveTo>
                    <a:pt x="0" y="0"/>
                  </a:moveTo>
                  <a:lnTo>
                    <a:pt x="2163977" y="0"/>
                  </a:lnTo>
                  <a:lnTo>
                    <a:pt x="2163977" y="2141436"/>
                  </a:lnTo>
                  <a:lnTo>
                    <a:pt x="0" y="214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3C8A9747-54E1-9867-BAAA-CB914BE2A0E1}"/>
                </a:ext>
              </a:extLst>
            </p:cNvPr>
            <p:cNvGrpSpPr/>
            <p:nvPr/>
          </p:nvGrpSpPr>
          <p:grpSpPr>
            <a:xfrm>
              <a:off x="2958916" y="336511"/>
              <a:ext cx="841435" cy="279970"/>
              <a:chOff x="0" y="0"/>
              <a:chExt cx="292941" cy="9747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603C7113-5E1F-545A-5675-E65BC76E0EEF}"/>
                  </a:ext>
                </a:extLst>
              </p:cNvPr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A7552B3A-E854-172C-E78A-7D86469CAC6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82F9E87-75A4-129D-998D-7C17DF791A76}"/>
                </a:ext>
              </a:extLst>
            </p:cNvPr>
            <p:cNvSpPr txBox="1"/>
            <p:nvPr/>
          </p:nvSpPr>
          <p:spPr>
            <a:xfrm>
              <a:off x="2844722" y="342083"/>
              <a:ext cx="1069823" cy="24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4"/>
                </a:lnSpc>
              </a:pPr>
              <a:r>
                <a:rPr lang="en-US" sz="1103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B52F2CB0-F0DB-DBA6-1AAA-EC174B4E34A2}"/>
              </a:ext>
            </a:extLst>
          </p:cNvPr>
          <p:cNvSpPr txBox="1"/>
          <p:nvPr/>
        </p:nvSpPr>
        <p:spPr>
          <a:xfrm>
            <a:off x="3689794" y="442951"/>
            <a:ext cx="12173933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6500" dirty="0">
                <a:solidFill>
                  <a:srgbClr val="619BCC"/>
                </a:solidFill>
                <a:latin typeface="RQND Pro Wide"/>
                <a:ea typeface="RQND Pro Wide"/>
                <a:cs typeface="RQND Pro Wide"/>
                <a:sym typeface="RQND Pro Wide"/>
              </a:rPr>
              <a:t>Dataset &amp; Architecture overview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1B29EC-6D5B-B3B6-B4C9-6E4865EBBBF8}"/>
              </a:ext>
            </a:extLst>
          </p:cNvPr>
          <p:cNvSpPr txBox="1"/>
          <p:nvPr/>
        </p:nvSpPr>
        <p:spPr>
          <a:xfrm>
            <a:off x="102543" y="1453487"/>
            <a:ext cx="8435400" cy="8646334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Dataset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Dataset is preprocessed using various techniques such as dimension filtering, normalization etc.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source_country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</a:t>
            </a: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destination_country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</a:t>
            </a: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annual_cash_flow_volume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average_transfer_fee_percentage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fx_volatility_index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regulatory_restriction_score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AML_requirements_score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avg_payment_processing_time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correspondent_banking_dependency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migrant_population_source_to_destination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internet_penetration_rate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digital_payment_infrastructure_score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money_laundering_risk_score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sanctions_risk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overall_friction_score</a:t>
            </a: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(label)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BCDF6E-DDB5-C2BB-F0E2-4D4FB53370C7}"/>
              </a:ext>
            </a:extLst>
          </p:cNvPr>
          <p:cNvSpPr txBox="1"/>
          <p:nvPr/>
        </p:nvSpPr>
        <p:spPr>
          <a:xfrm>
            <a:off x="9144000" y="1950283"/>
            <a:ext cx="8938914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system Architecture</a:t>
            </a:r>
          </a:p>
          <a:p>
            <a:endParaRPr lang="en-US" sz="32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619BCC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FFE9F7-5E0B-258F-FB6A-BAA966C4D4F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r="3599" b="5555"/>
          <a:stretch>
            <a:fillRect/>
          </a:stretch>
        </p:blipFill>
        <p:spPr>
          <a:xfrm>
            <a:off x="8640486" y="2977772"/>
            <a:ext cx="9220200" cy="590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7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205086" y="349843"/>
            <a:ext cx="3100960" cy="1606077"/>
            <a:chOff x="0" y="0"/>
            <a:chExt cx="4134613" cy="2141436"/>
          </a:xfrm>
        </p:grpSpPr>
        <p:grpSp>
          <p:nvGrpSpPr>
            <p:cNvPr id="4" name="Group 4"/>
            <p:cNvGrpSpPr/>
            <p:nvPr/>
          </p:nvGrpSpPr>
          <p:grpSpPr>
            <a:xfrm>
              <a:off x="168868" y="535401"/>
              <a:ext cx="394825" cy="97171"/>
              <a:chOff x="0" y="0"/>
              <a:chExt cx="141010" cy="3470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68868" y="379325"/>
              <a:ext cx="394825" cy="97171"/>
              <a:chOff x="0" y="0"/>
              <a:chExt cx="141010" cy="347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940404" y="1070718"/>
              <a:ext cx="194210" cy="193588"/>
            </a:xfrm>
            <a:custGeom>
              <a:avLst/>
              <a:gdLst/>
              <a:ahLst/>
              <a:cxnLst/>
              <a:rect l="l" t="t" r="r" b="b"/>
              <a:pathLst>
                <a:path w="194210" h="193588">
                  <a:moveTo>
                    <a:pt x="0" y="0"/>
                  </a:moveTo>
                  <a:lnTo>
                    <a:pt x="194209" y="0"/>
                  </a:lnTo>
                  <a:lnTo>
                    <a:pt x="194209" y="193588"/>
                  </a:lnTo>
                  <a:lnTo>
                    <a:pt x="0" y="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85492"/>
              <a:ext cx="3914545" cy="1065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8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75284" y="0"/>
              <a:ext cx="2163977" cy="2141436"/>
            </a:xfrm>
            <a:custGeom>
              <a:avLst/>
              <a:gdLst/>
              <a:ahLst/>
              <a:cxnLst/>
              <a:rect l="l" t="t" r="r" b="b"/>
              <a:pathLst>
                <a:path w="2163977" h="2141436">
                  <a:moveTo>
                    <a:pt x="0" y="0"/>
                  </a:moveTo>
                  <a:lnTo>
                    <a:pt x="2163977" y="0"/>
                  </a:lnTo>
                  <a:lnTo>
                    <a:pt x="2163977" y="2141436"/>
                  </a:lnTo>
                  <a:lnTo>
                    <a:pt x="0" y="214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2958916" y="336511"/>
              <a:ext cx="841435" cy="279970"/>
              <a:chOff x="0" y="0"/>
              <a:chExt cx="292941" cy="9747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2844722" y="342083"/>
              <a:ext cx="1069823" cy="24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4"/>
                </a:lnSpc>
              </a:pPr>
              <a:r>
                <a:rPr lang="en-US" sz="1103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909399" y="587968"/>
            <a:ext cx="8469202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6500" dirty="0">
                <a:solidFill>
                  <a:srgbClr val="619BCC"/>
                </a:solidFill>
                <a:latin typeface="RQND Pro Wide"/>
                <a:ea typeface="RQND Pro Wide"/>
                <a:cs typeface="RQND Pro Wide"/>
                <a:sym typeface="RQND Pro Wide"/>
              </a:rPr>
              <a:t>TECH STACK &amp; WORKFLOW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7FB441-7DCE-90E8-17CA-EE2AAB506EE8}"/>
              </a:ext>
            </a:extLst>
          </p:cNvPr>
          <p:cNvSpPr txBox="1"/>
          <p:nvPr/>
        </p:nvSpPr>
        <p:spPr>
          <a:xfrm>
            <a:off x="210003" y="2320039"/>
            <a:ext cx="8171997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TECH STACK</a:t>
            </a:r>
          </a:p>
          <a:p>
            <a:pPr algn="ctr">
              <a:lnSpc>
                <a:spcPts val="5395"/>
              </a:lnSpc>
            </a:pPr>
            <a:endParaRPr lang="en-US" sz="4800" dirty="0">
              <a:solidFill>
                <a:schemeClr val="accent6"/>
              </a:solidFill>
              <a:latin typeface="RQND Pro Wide"/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Machine Learning: </a:t>
            </a:r>
            <a:r>
              <a:rPr lang="en-US" sz="3000" b="1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XGBoost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, SHAP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Graph Routing: </a:t>
            </a:r>
            <a:r>
              <a:rPr lang="en-US" sz="3000" b="1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NetworkX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(multi-hop path discovery)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Frontend/UI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: </a:t>
            </a:r>
            <a:r>
              <a:rPr lang="en-US" sz="3000" b="1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Streamlit</a:t>
            </a:r>
            <a:endParaRPr lang="en-US" sz="3000" b="1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Visualization: 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Matplotlib / </a:t>
            </a:r>
            <a:r>
              <a:rPr lang="en-US" sz="3000" b="1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Plotly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/</a:t>
            </a:r>
            <a:r>
              <a:rPr lang="en-US" sz="3000" b="1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Streamlit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Graph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Backend/Processing: 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Python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Data Handling: 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Pandas, JSON, CSV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AWS: </a:t>
            </a:r>
            <a:r>
              <a:rPr lang="en-US" sz="3000" b="1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Lambda, S3, API Gateway, SageMaker</a:t>
            </a:r>
            <a:endParaRPr lang="en-US" sz="3000" dirty="0">
              <a:solidFill>
                <a:schemeClr val="bg1"/>
              </a:solidFill>
              <a:ea typeface="RQND Pro Wide"/>
              <a:cs typeface="RQND Pro Wide"/>
              <a:sym typeface="RQND Pro Wid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D630CE-77D3-7825-154F-F107CB5B3450}"/>
              </a:ext>
            </a:extLst>
          </p:cNvPr>
          <p:cNvSpPr txBox="1"/>
          <p:nvPr/>
        </p:nvSpPr>
        <p:spPr>
          <a:xfrm>
            <a:off x="8996362" y="2250782"/>
            <a:ext cx="8938914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WORKFLOW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619BCC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A11BC-8897-9F7C-B777-BDBB7BB5EB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044"/>
          <a:stretch>
            <a:fillRect/>
          </a:stretch>
        </p:blipFill>
        <p:spPr>
          <a:xfrm>
            <a:off x="8180223" y="3755971"/>
            <a:ext cx="9755053" cy="47480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5291-4F8B-4E92-DB1E-9F0795CB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DBCF7B-A66B-FACE-959D-D741A34CCB6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29F9B1A-7BDC-78DD-ED42-8D0E16A31EED}"/>
              </a:ext>
            </a:extLst>
          </p:cNvPr>
          <p:cNvGrpSpPr/>
          <p:nvPr/>
        </p:nvGrpSpPr>
        <p:grpSpPr>
          <a:xfrm>
            <a:off x="205086" y="349843"/>
            <a:ext cx="3100960" cy="1606077"/>
            <a:chOff x="0" y="0"/>
            <a:chExt cx="4134613" cy="214143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429FC593-5928-99B7-3E5E-B72E09ABCB2C}"/>
                </a:ext>
              </a:extLst>
            </p:cNvPr>
            <p:cNvGrpSpPr/>
            <p:nvPr/>
          </p:nvGrpSpPr>
          <p:grpSpPr>
            <a:xfrm>
              <a:off x="168868" y="535401"/>
              <a:ext cx="394825" cy="97171"/>
              <a:chOff x="0" y="0"/>
              <a:chExt cx="141010" cy="3470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C68B42C0-F635-D256-987E-DAAF0F5CC56A}"/>
                  </a:ext>
                </a:extLst>
              </p:cNvPr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F99D79EA-F972-D3DA-EF56-2A14DD5F13A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95CAB8A0-14FC-01CB-2635-C3BB2974D760}"/>
                </a:ext>
              </a:extLst>
            </p:cNvPr>
            <p:cNvGrpSpPr/>
            <p:nvPr/>
          </p:nvGrpSpPr>
          <p:grpSpPr>
            <a:xfrm>
              <a:off x="168868" y="379325"/>
              <a:ext cx="394825" cy="97171"/>
              <a:chOff x="0" y="0"/>
              <a:chExt cx="141010" cy="34704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B11E2A7-CA57-7A47-4632-D8CAC9678EA7}"/>
                  </a:ext>
                </a:extLst>
              </p:cNvPr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7E3B2977-5D5D-6D9C-CD7D-E043488D2D23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A2843FD-464D-D450-6AD0-9A04CAE61D13}"/>
                </a:ext>
              </a:extLst>
            </p:cNvPr>
            <p:cNvSpPr/>
            <p:nvPr/>
          </p:nvSpPr>
          <p:spPr>
            <a:xfrm>
              <a:off x="3940404" y="1070718"/>
              <a:ext cx="194210" cy="193588"/>
            </a:xfrm>
            <a:custGeom>
              <a:avLst/>
              <a:gdLst/>
              <a:ahLst/>
              <a:cxnLst/>
              <a:rect l="l" t="t" r="r" b="b"/>
              <a:pathLst>
                <a:path w="194210" h="193588">
                  <a:moveTo>
                    <a:pt x="0" y="0"/>
                  </a:moveTo>
                  <a:lnTo>
                    <a:pt x="194209" y="0"/>
                  </a:lnTo>
                  <a:lnTo>
                    <a:pt x="194209" y="193588"/>
                  </a:lnTo>
                  <a:lnTo>
                    <a:pt x="0" y="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322D7C0-6BFE-EFFD-34A0-B14988C3E868}"/>
                </a:ext>
              </a:extLst>
            </p:cNvPr>
            <p:cNvSpPr txBox="1"/>
            <p:nvPr/>
          </p:nvSpPr>
          <p:spPr>
            <a:xfrm>
              <a:off x="0" y="485492"/>
              <a:ext cx="3914545" cy="1065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90"/>
                </a:lnSpc>
              </a:pPr>
              <a:r>
                <a:rPr lang="en-US" sz="4778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47B8550-4873-1F31-01FF-8CC71A3DA2B4}"/>
                </a:ext>
              </a:extLst>
            </p:cNvPr>
            <p:cNvSpPr/>
            <p:nvPr/>
          </p:nvSpPr>
          <p:spPr>
            <a:xfrm>
              <a:off x="875284" y="0"/>
              <a:ext cx="2163977" cy="2141436"/>
            </a:xfrm>
            <a:custGeom>
              <a:avLst/>
              <a:gdLst/>
              <a:ahLst/>
              <a:cxnLst/>
              <a:rect l="l" t="t" r="r" b="b"/>
              <a:pathLst>
                <a:path w="2163977" h="2141436">
                  <a:moveTo>
                    <a:pt x="0" y="0"/>
                  </a:moveTo>
                  <a:lnTo>
                    <a:pt x="2163977" y="0"/>
                  </a:lnTo>
                  <a:lnTo>
                    <a:pt x="2163977" y="2141436"/>
                  </a:lnTo>
                  <a:lnTo>
                    <a:pt x="0" y="214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C60416F7-3CA1-E007-5301-49228E41AE8A}"/>
                </a:ext>
              </a:extLst>
            </p:cNvPr>
            <p:cNvGrpSpPr/>
            <p:nvPr/>
          </p:nvGrpSpPr>
          <p:grpSpPr>
            <a:xfrm>
              <a:off x="2958916" y="336511"/>
              <a:ext cx="841435" cy="279970"/>
              <a:chOff x="0" y="0"/>
              <a:chExt cx="292941" cy="9747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62A798B-387D-6146-5251-0FD04B232B89}"/>
                  </a:ext>
                </a:extLst>
              </p:cNvPr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6E362608-C40E-0624-E0E5-6B451714685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7DDB3662-CA05-58E4-5B25-E112150AAA88}"/>
                </a:ext>
              </a:extLst>
            </p:cNvPr>
            <p:cNvSpPr txBox="1"/>
            <p:nvPr/>
          </p:nvSpPr>
          <p:spPr>
            <a:xfrm>
              <a:off x="2844722" y="342083"/>
              <a:ext cx="1069823" cy="24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4"/>
                </a:lnSpc>
              </a:pPr>
              <a:r>
                <a:rPr lang="en-US" sz="1103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9DFF93B3-9985-4394-0FC5-04CA244C22AD}"/>
              </a:ext>
            </a:extLst>
          </p:cNvPr>
          <p:cNvSpPr txBox="1"/>
          <p:nvPr/>
        </p:nvSpPr>
        <p:spPr>
          <a:xfrm>
            <a:off x="4909399" y="587968"/>
            <a:ext cx="8469202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sz="6500" dirty="0">
                <a:solidFill>
                  <a:srgbClr val="619BCC"/>
                </a:solidFill>
                <a:latin typeface="RQND Pro Wide"/>
                <a:ea typeface="RQND Pro Wide"/>
                <a:cs typeface="RQND Pro Wide"/>
                <a:sym typeface="RQND Pro Wide"/>
              </a:rPr>
              <a:t>TECH STACK &amp; FEATURES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3027C4-9FDF-E945-1534-BC6FEF794DCC}"/>
              </a:ext>
            </a:extLst>
          </p:cNvPr>
          <p:cNvSpPr txBox="1"/>
          <p:nvPr/>
        </p:nvSpPr>
        <p:spPr>
          <a:xfrm>
            <a:off x="8996362" y="2284754"/>
            <a:ext cx="9026625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Unique Selling Points (USP)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ML-Driven Friction Modeling: </a:t>
            </a:r>
            <a:r>
              <a:rPr lang="en-US" sz="3000" dirty="0" err="1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XGBoost</a:t>
            </a: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 predicts hidden costs and frictions between jurisdictions.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Explainable AI: SHAP explains WHY a route is costly — full transparency.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Real-Time Prioritization: Cost/Speed/Risk sliders instantly re-rank routes.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Rich Visualizations: Route graph, SHAP panel, comparison table, and savings breakdown.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Direct vs Optimized Benchmarking: Shows exactly how much money is saved legally.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Enterprise-Ready Flow: Modular architecture with routing engine, UI, and explainability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619BCC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6F0828-5DE4-DBD5-5CCC-AD85900946E7}"/>
              </a:ext>
            </a:extLst>
          </p:cNvPr>
          <p:cNvSpPr txBox="1"/>
          <p:nvPr/>
        </p:nvSpPr>
        <p:spPr>
          <a:xfrm>
            <a:off x="265013" y="2320039"/>
            <a:ext cx="8938914" cy="7617118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5395"/>
              </a:lnSpc>
            </a:pPr>
            <a:r>
              <a:rPr lang="en-US" sz="4350" dirty="0">
                <a:solidFill>
                  <a:schemeClr val="accent6"/>
                </a:solidFill>
                <a:latin typeface="RQND Pro Wide"/>
                <a:ea typeface="RQND Pro Wide"/>
                <a:cs typeface="RQND Pro Wide"/>
                <a:sym typeface="RQND Pro Wide"/>
              </a:rPr>
              <a:t>Features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Multi-hop routing (up to 3 hops).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ML-driven friction scoring per corridor.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Adjustable sliders for Cost / Speed / Risk weighting.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Route cards: Recommended / Cheapest / Fastest / Safest.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CFO-focused comparison table with net received amount &amp; savings.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Node-edge graph visualization of each route.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Direct vs Optimized route comparison (₹ savings + time gain).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Per-route SHAP explanation panel (“Why this route?”).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ea typeface="RQND Pro Wide"/>
                <a:cs typeface="RQND Pro Wide"/>
                <a:sym typeface="RQND Pro Wide"/>
              </a:rPr>
              <a:t>CSV export for reporting and analysis.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619BCC"/>
              </a:solidFill>
              <a:ea typeface="RQND Pro Wide"/>
              <a:cs typeface="RQND Pro Wide"/>
              <a:sym typeface="RQND Pro Wide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600" dirty="0">
              <a:solidFill>
                <a:srgbClr val="619BCC"/>
              </a:solidFill>
              <a:latin typeface="RQND Pro Wide"/>
              <a:ea typeface="RQND Pro Wide"/>
              <a:cs typeface="RQND Pro Wide"/>
              <a:sym typeface="RQND Pro Wide"/>
            </a:endParaRPr>
          </a:p>
        </p:txBody>
      </p:sp>
    </p:spTree>
    <p:extLst>
      <p:ext uri="{BB962C8B-B14F-4D97-AF65-F5344CB8AC3E}">
        <p14:creationId xmlns:p14="http://schemas.microsoft.com/office/powerpoint/2010/main" val="409960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C75D-FFA3-7768-932F-7F2DBC74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028F32-FC24-A8E7-083B-793D6FB549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395FCD8-7140-1573-5AE2-90D7201C2BE4}"/>
              </a:ext>
            </a:extLst>
          </p:cNvPr>
          <p:cNvGrpSpPr/>
          <p:nvPr/>
        </p:nvGrpSpPr>
        <p:grpSpPr>
          <a:xfrm>
            <a:off x="205086" y="349843"/>
            <a:ext cx="3100960" cy="1606077"/>
            <a:chOff x="0" y="0"/>
            <a:chExt cx="4134613" cy="2141436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C7C888D-7E2F-3109-C30B-0BFF4639B146}"/>
                </a:ext>
              </a:extLst>
            </p:cNvPr>
            <p:cNvGrpSpPr/>
            <p:nvPr/>
          </p:nvGrpSpPr>
          <p:grpSpPr>
            <a:xfrm>
              <a:off x="168868" y="535401"/>
              <a:ext cx="394825" cy="97171"/>
              <a:chOff x="0" y="0"/>
              <a:chExt cx="141010" cy="34704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55CB07A0-D32B-E195-20BC-B02B1FA1D985}"/>
                  </a:ext>
                </a:extLst>
              </p:cNvPr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B5B14DBE-6194-B7E2-7F1B-47770A78E9DE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31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F08CB916-5E6A-54E1-9874-05296ED3E1C4}"/>
                </a:ext>
              </a:extLst>
            </p:cNvPr>
            <p:cNvGrpSpPr/>
            <p:nvPr/>
          </p:nvGrpSpPr>
          <p:grpSpPr>
            <a:xfrm>
              <a:off x="168868" y="379325"/>
              <a:ext cx="394825" cy="97171"/>
              <a:chOff x="0" y="0"/>
              <a:chExt cx="141010" cy="34704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E8482469-51AF-E8D5-E7DF-48BD4287B830}"/>
                  </a:ext>
                </a:extLst>
              </p:cNvPr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1E8032D-E51A-9BC7-AF31-4BDEA4F2D73B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31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1E3A469-33DA-AA5D-A3EC-5E9FC6F7955F}"/>
                </a:ext>
              </a:extLst>
            </p:cNvPr>
            <p:cNvSpPr/>
            <p:nvPr/>
          </p:nvSpPr>
          <p:spPr>
            <a:xfrm>
              <a:off x="3940404" y="1070718"/>
              <a:ext cx="194210" cy="193588"/>
            </a:xfrm>
            <a:custGeom>
              <a:avLst/>
              <a:gdLst/>
              <a:ahLst/>
              <a:cxnLst/>
              <a:rect l="l" t="t" r="r" b="b"/>
              <a:pathLst>
                <a:path w="194210" h="193588">
                  <a:moveTo>
                    <a:pt x="0" y="0"/>
                  </a:moveTo>
                  <a:lnTo>
                    <a:pt x="194209" y="0"/>
                  </a:lnTo>
                  <a:lnTo>
                    <a:pt x="194209" y="193588"/>
                  </a:lnTo>
                  <a:lnTo>
                    <a:pt x="0" y="19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435DA4E-F795-6A88-2670-803B67AD79F8}"/>
                </a:ext>
              </a:extLst>
            </p:cNvPr>
            <p:cNvSpPr txBox="1"/>
            <p:nvPr/>
          </p:nvSpPr>
          <p:spPr>
            <a:xfrm>
              <a:off x="0" y="485492"/>
              <a:ext cx="3914545" cy="1065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669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778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391DB0E-8015-F55D-C42E-572ED4AD844E}"/>
                </a:ext>
              </a:extLst>
            </p:cNvPr>
            <p:cNvSpPr/>
            <p:nvPr/>
          </p:nvSpPr>
          <p:spPr>
            <a:xfrm>
              <a:off x="875284" y="0"/>
              <a:ext cx="2163977" cy="2141436"/>
            </a:xfrm>
            <a:custGeom>
              <a:avLst/>
              <a:gdLst/>
              <a:ahLst/>
              <a:cxnLst/>
              <a:rect l="l" t="t" r="r" b="b"/>
              <a:pathLst>
                <a:path w="2163977" h="2141436">
                  <a:moveTo>
                    <a:pt x="0" y="0"/>
                  </a:moveTo>
                  <a:lnTo>
                    <a:pt x="2163977" y="0"/>
                  </a:lnTo>
                  <a:lnTo>
                    <a:pt x="2163977" y="2141436"/>
                  </a:lnTo>
                  <a:lnTo>
                    <a:pt x="0" y="2141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031D3541-A0D6-8012-603D-B66F0105FB4F}"/>
                </a:ext>
              </a:extLst>
            </p:cNvPr>
            <p:cNvGrpSpPr/>
            <p:nvPr/>
          </p:nvGrpSpPr>
          <p:grpSpPr>
            <a:xfrm>
              <a:off x="2958916" y="336511"/>
              <a:ext cx="841435" cy="279970"/>
              <a:chOff x="0" y="0"/>
              <a:chExt cx="292941" cy="9747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F424FAC-BA24-C443-732D-215C5254B68C}"/>
                  </a:ext>
                </a:extLst>
              </p:cNvPr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48B615C0-05AE-2DC2-9A2D-D78240F9EDE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31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39373D4-6FBA-F0DF-B0C9-2C0F47F8E7D0}"/>
                </a:ext>
              </a:extLst>
            </p:cNvPr>
            <p:cNvSpPr txBox="1"/>
            <p:nvPr/>
          </p:nvSpPr>
          <p:spPr>
            <a:xfrm>
              <a:off x="2844722" y="342083"/>
              <a:ext cx="1069823" cy="2451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54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3" b="1" i="0" u="none" strike="noStrike" kern="120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35B500F0-9DD2-1245-B17C-315851E35F5D}"/>
              </a:ext>
            </a:extLst>
          </p:cNvPr>
          <p:cNvSpPr txBox="1"/>
          <p:nvPr/>
        </p:nvSpPr>
        <p:spPr>
          <a:xfrm>
            <a:off x="3672332" y="595784"/>
            <a:ext cx="12173933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3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0" i="0" u="none" strike="noStrike" kern="1200" cap="none" spc="0" normalizeH="0" baseline="0" noProof="0" dirty="0">
                <a:ln>
                  <a:noFill/>
                </a:ln>
                <a:solidFill>
                  <a:srgbClr val="619BCC"/>
                </a:solidFill>
                <a:effectLst/>
                <a:uLnTx/>
                <a:uFillTx/>
                <a:latin typeface="RQND Pro Wide"/>
                <a:ea typeface="RQND Pro Wide"/>
                <a:cs typeface="RQND Pro Wide"/>
                <a:sym typeface="RQND Pro Wide"/>
              </a:rPr>
              <a:t>FEASIBILITY &amp;  Impact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9C4E86-0B06-05A1-D207-36EE7C6B8046}"/>
              </a:ext>
            </a:extLst>
          </p:cNvPr>
          <p:cNvSpPr txBox="1"/>
          <p:nvPr/>
        </p:nvSpPr>
        <p:spPr>
          <a:xfrm>
            <a:off x="827136" y="1713386"/>
            <a:ext cx="16974344" cy="720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3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500" b="0" i="0" u="none" strike="noStrike" kern="1200" cap="none" spc="0" normalizeH="0" baseline="0" noProof="0" dirty="0">
              <a:ln>
                <a:noFill/>
              </a:ln>
              <a:solidFill>
                <a:srgbClr val="619BCC"/>
              </a:solidFill>
              <a:effectLst/>
              <a:uLnTx/>
              <a:uFillTx/>
              <a:latin typeface="Arsenal Bold" panose="020B0604020202020204" charset="0"/>
              <a:ea typeface="RQND Pro Wide"/>
              <a:cs typeface="RQND Pro Wide"/>
              <a:sym typeface="RQND Pro Wide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649F877-22A4-AB25-E48D-A4C88139B1DA}"/>
              </a:ext>
            </a:extLst>
          </p:cNvPr>
          <p:cNvGraphicFramePr>
            <a:graphicFrameLocks noGrp="1"/>
          </p:cNvGraphicFramePr>
          <p:nvPr/>
        </p:nvGraphicFramePr>
        <p:xfrm>
          <a:off x="479796" y="1886338"/>
          <a:ext cx="17537064" cy="7794257"/>
        </p:xfrm>
        <a:graphic>
          <a:graphicData uri="http://schemas.openxmlformats.org/drawingml/2006/table">
            <a:tbl>
              <a:tblPr/>
              <a:tblGrid>
                <a:gridCol w="4384266">
                  <a:extLst>
                    <a:ext uri="{9D8B030D-6E8A-4147-A177-3AD203B41FA5}">
                      <a16:colId xmlns:a16="http://schemas.microsoft.com/office/drawing/2014/main" val="2841206242"/>
                    </a:ext>
                  </a:extLst>
                </a:gridCol>
                <a:gridCol w="4384266">
                  <a:extLst>
                    <a:ext uri="{9D8B030D-6E8A-4147-A177-3AD203B41FA5}">
                      <a16:colId xmlns:a16="http://schemas.microsoft.com/office/drawing/2014/main" val="3993991753"/>
                    </a:ext>
                  </a:extLst>
                </a:gridCol>
                <a:gridCol w="4384266">
                  <a:extLst>
                    <a:ext uri="{9D8B030D-6E8A-4147-A177-3AD203B41FA5}">
                      <a16:colId xmlns:a16="http://schemas.microsoft.com/office/drawing/2014/main" val="1690957502"/>
                    </a:ext>
                  </a:extLst>
                </a:gridCol>
                <a:gridCol w="4384266">
                  <a:extLst>
                    <a:ext uri="{9D8B030D-6E8A-4147-A177-3AD203B41FA5}">
                      <a16:colId xmlns:a16="http://schemas.microsoft.com/office/drawing/2014/main" val="877966229"/>
                    </a:ext>
                  </a:extLst>
                </a:gridCol>
              </a:tblGrid>
              <a:tr h="50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Dimension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Before (Current State)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After (With Our System)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Measured Impact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457651"/>
                  </a:ext>
                </a:extLst>
              </a:tr>
              <a:tr h="116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Cost Efficiency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Routing choices driven by guesswork, legacy bank advice, or habit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Data-driven route recommendations based on real corridor friction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Savings of </a:t>
                      </a:r>
                      <a:r>
                        <a:rPr lang="en-US" sz="2100" b="1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5–18%</a:t>
                      </a: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 per cross-border transfer depending on corridor complexity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106575"/>
                  </a:ext>
                </a:extLst>
              </a:tr>
              <a:tr h="1384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Transparency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Hidden charges: FX spread, taxes, compliance and delays are unclear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Full breakdown: per-hop cost, risk, regulation exposure, and settlement dynamics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100% visibility</a:t>
                      </a: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 into where value leaks and why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75105"/>
                  </a:ext>
                </a:extLst>
              </a:tr>
              <a:tr h="94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Speed of Decision-Making</a:t>
                      </a:r>
                      <a:endParaRPr lang="en-IN" sz="300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CFOs and treasury teams require days/weeks to evaluate routing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Route simulation and ranking in </a:t>
                      </a:r>
                      <a:r>
                        <a:rPr lang="en-US" sz="2100" b="1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seconds</a:t>
                      </a:r>
                      <a:endParaRPr lang="en-US" sz="2100" dirty="0">
                        <a:solidFill>
                          <a:schemeClr val="bg1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Decision cycles drop from </a:t>
                      </a:r>
                      <a:r>
                        <a:rPr lang="en-US" sz="2100" b="1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days → minutes</a:t>
                      </a:r>
                      <a:endParaRPr lang="en-US" sz="2100">
                        <a:solidFill>
                          <a:schemeClr val="bg1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317772"/>
                  </a:ext>
                </a:extLst>
              </a:tr>
              <a:tr h="94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Risk Management</a:t>
                      </a:r>
                      <a:endParaRPr lang="en-IN" sz="300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Risk understood only post-transaction (delays, holds, freezes)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SHAP-powered predictive scoring on regulatory risk before execution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Avoidable compliance delays reduced by </a:t>
                      </a:r>
                      <a:r>
                        <a:rPr lang="en-US" sz="2100" b="1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up to 60%</a:t>
                      </a:r>
                      <a:endParaRPr lang="en-US" sz="2100">
                        <a:solidFill>
                          <a:schemeClr val="bg1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431982"/>
                  </a:ext>
                </a:extLst>
              </a:tr>
              <a:tr h="94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Strategic Planning</a:t>
                      </a:r>
                      <a:endParaRPr lang="en-IN" sz="300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Treasury operations reactive and execution-only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Ability to simulate and benchmark routes before sending funds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Enables proactive treasury strategy and negotiation positioning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810583"/>
                  </a:ext>
                </a:extLst>
              </a:tr>
              <a:tr h="94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Reporting &amp; Audit</a:t>
                      </a:r>
                      <a:endParaRPr lang="en-IN" sz="300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Manual reporting with fragmented data sources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Auto-generated comparison exports for compliance, audit, investors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Saves </a:t>
                      </a:r>
                      <a:r>
                        <a:rPr lang="en-US" sz="2100" b="1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hours per cycle</a:t>
                      </a: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 and builds audit-grade traceability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706015"/>
                  </a:ext>
                </a:extLst>
              </a:tr>
              <a:tr h="94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>
                          <a:solidFill>
                            <a:schemeClr val="accent6"/>
                          </a:solidFill>
                          <a:latin typeface="Arsenal Bold" panose="020B0604020202020204" charset="0"/>
                        </a:rPr>
                        <a:t>Value Creation</a:t>
                      </a:r>
                      <a:endParaRPr lang="en-IN" sz="3000" dirty="0">
                        <a:solidFill>
                          <a:schemeClr val="accent6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No clarity on how routing affects margins or treasury efficiencies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Demonstrates quantifiable savings without new revenue generation</a:t>
                      </a: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  <a:latin typeface="Arsenal Bold" panose="020B0604020202020204" charset="0"/>
                        </a:rPr>
                        <a:t>Creates value without earning — only by reducing loss</a:t>
                      </a:r>
                      <a:endParaRPr lang="en-US" sz="2100" dirty="0">
                        <a:solidFill>
                          <a:schemeClr val="bg1"/>
                        </a:solidFill>
                        <a:latin typeface="Arsenal Bold" panose="020B0604020202020204" charset="0"/>
                      </a:endParaRPr>
                    </a:p>
                  </a:txBody>
                  <a:tcPr marL="42299" marR="42299" marT="21149" marB="211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163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343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025366" y="3419542"/>
            <a:ext cx="16233934" cy="4704651"/>
            <a:chOff x="0" y="0"/>
            <a:chExt cx="13149359" cy="38107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149359" cy="3810730"/>
            </a:xfrm>
            <a:custGeom>
              <a:avLst/>
              <a:gdLst/>
              <a:ahLst/>
              <a:cxnLst/>
              <a:rect l="l" t="t" r="r" b="b"/>
              <a:pathLst>
                <a:path w="13149359" h="3810730">
                  <a:moveTo>
                    <a:pt x="1298933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650710"/>
                  </a:lnTo>
                  <a:lnTo>
                    <a:pt x="160020" y="3810730"/>
                  </a:lnTo>
                  <a:lnTo>
                    <a:pt x="12989339" y="3810730"/>
                  </a:lnTo>
                  <a:lnTo>
                    <a:pt x="13149359" y="3650710"/>
                  </a:lnTo>
                  <a:lnTo>
                    <a:pt x="13149359" y="160020"/>
                  </a:lnTo>
                  <a:lnTo>
                    <a:pt x="12989339" y="0"/>
                  </a:lnTo>
                  <a:close/>
                </a:path>
              </a:pathLst>
            </a:custGeom>
            <a:solidFill>
              <a:srgbClr val="242425"/>
            </a:solidFill>
            <a:ln w="9525" cap="sq">
              <a:solidFill>
                <a:srgbClr val="619BCC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500" y="6350"/>
              <a:ext cx="13022359" cy="3740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24760" y="5214701"/>
            <a:ext cx="1211803" cy="1066387"/>
          </a:xfrm>
          <a:custGeom>
            <a:avLst/>
            <a:gdLst/>
            <a:ahLst/>
            <a:cxnLst/>
            <a:rect l="l" t="t" r="r" b="b"/>
            <a:pathLst>
              <a:path w="1211803" h="1066387">
                <a:moveTo>
                  <a:pt x="0" y="0"/>
                </a:moveTo>
                <a:lnTo>
                  <a:pt x="1211803" y="0"/>
                </a:lnTo>
                <a:lnTo>
                  <a:pt x="1211803" y="1066387"/>
                </a:lnTo>
                <a:lnTo>
                  <a:pt x="0" y="10663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flipH="1">
            <a:off x="15539109" y="5262646"/>
            <a:ext cx="1157320" cy="1018442"/>
          </a:xfrm>
          <a:custGeom>
            <a:avLst/>
            <a:gdLst/>
            <a:ahLst/>
            <a:cxnLst/>
            <a:rect l="l" t="t" r="r" b="b"/>
            <a:pathLst>
              <a:path w="1157320" h="1018442">
                <a:moveTo>
                  <a:pt x="1157320" y="0"/>
                </a:moveTo>
                <a:lnTo>
                  <a:pt x="0" y="0"/>
                </a:lnTo>
                <a:lnTo>
                  <a:pt x="0" y="1018442"/>
                </a:lnTo>
                <a:lnTo>
                  <a:pt x="1157320" y="1018442"/>
                </a:lnTo>
                <a:lnTo>
                  <a:pt x="11573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6474866" y="300246"/>
            <a:ext cx="5338269" cy="2764844"/>
            <a:chOff x="0" y="0"/>
            <a:chExt cx="7117692" cy="3686458"/>
          </a:xfrm>
        </p:grpSpPr>
        <p:grpSp>
          <p:nvGrpSpPr>
            <p:cNvPr id="9" name="Group 9"/>
            <p:cNvGrpSpPr/>
            <p:nvPr/>
          </p:nvGrpSpPr>
          <p:grpSpPr>
            <a:xfrm>
              <a:off x="290704" y="921686"/>
              <a:ext cx="679686" cy="167278"/>
              <a:chOff x="0" y="0"/>
              <a:chExt cx="141010" cy="3470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290704" y="653005"/>
              <a:ext cx="679686" cy="167278"/>
              <a:chOff x="0" y="0"/>
              <a:chExt cx="141010" cy="3470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1010" cy="34704"/>
              </a:xfrm>
              <a:custGeom>
                <a:avLst/>
                <a:gdLst/>
                <a:ahLst/>
                <a:cxnLst/>
                <a:rect l="l" t="t" r="r" b="b"/>
                <a:pathLst>
                  <a:path w="141010" h="34704">
                    <a:moveTo>
                      <a:pt x="0" y="0"/>
                    </a:moveTo>
                    <a:lnTo>
                      <a:pt x="141010" y="0"/>
                    </a:lnTo>
                    <a:lnTo>
                      <a:pt x="141010" y="34704"/>
                    </a:lnTo>
                    <a:lnTo>
                      <a:pt x="0" y="3470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141010" cy="44229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783362" y="1843229"/>
              <a:ext cx="334330" cy="333260"/>
            </a:xfrm>
            <a:custGeom>
              <a:avLst/>
              <a:gdLst/>
              <a:ahLst/>
              <a:cxnLst/>
              <a:rect l="l" t="t" r="r" b="b"/>
              <a:pathLst>
                <a:path w="334330" h="333260">
                  <a:moveTo>
                    <a:pt x="0" y="0"/>
                  </a:moveTo>
                  <a:lnTo>
                    <a:pt x="334330" y="0"/>
                  </a:lnTo>
                  <a:lnTo>
                    <a:pt x="334330" y="333260"/>
                  </a:lnTo>
                  <a:lnTo>
                    <a:pt x="0" y="33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44688"/>
              <a:ext cx="6738847" cy="18256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516"/>
                </a:lnSpc>
              </a:pPr>
              <a:r>
                <a:rPr lang="en-US" sz="8226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DATANYX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06792" y="0"/>
              <a:ext cx="3725263" cy="3686458"/>
            </a:xfrm>
            <a:custGeom>
              <a:avLst/>
              <a:gdLst/>
              <a:ahLst/>
              <a:cxnLst/>
              <a:rect l="l" t="t" r="r" b="b"/>
              <a:pathLst>
                <a:path w="3725263" h="3686458">
                  <a:moveTo>
                    <a:pt x="0" y="0"/>
                  </a:moveTo>
                  <a:lnTo>
                    <a:pt x="3725263" y="0"/>
                  </a:lnTo>
                  <a:lnTo>
                    <a:pt x="3725263" y="3686458"/>
                  </a:lnTo>
                  <a:lnTo>
                    <a:pt x="0" y="368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093742" y="579301"/>
              <a:ext cx="1448522" cy="481965"/>
              <a:chOff x="0" y="0"/>
              <a:chExt cx="292941" cy="9747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92941" cy="97470"/>
              </a:xfrm>
              <a:custGeom>
                <a:avLst/>
                <a:gdLst/>
                <a:ahLst/>
                <a:cxnLst/>
                <a:rect l="l" t="t" r="r" b="b"/>
                <a:pathLst>
                  <a:path w="292941" h="97470">
                    <a:moveTo>
                      <a:pt x="48735" y="0"/>
                    </a:moveTo>
                    <a:lnTo>
                      <a:pt x="244206" y="0"/>
                    </a:lnTo>
                    <a:cubicBezTo>
                      <a:pt x="257131" y="0"/>
                      <a:pt x="269527" y="5135"/>
                      <a:pt x="278667" y="14274"/>
                    </a:cubicBezTo>
                    <a:cubicBezTo>
                      <a:pt x="287806" y="23414"/>
                      <a:pt x="292941" y="35810"/>
                      <a:pt x="292941" y="48735"/>
                    </a:cubicBezTo>
                    <a:lnTo>
                      <a:pt x="292941" y="48735"/>
                    </a:lnTo>
                    <a:cubicBezTo>
                      <a:pt x="292941" y="61660"/>
                      <a:pt x="287806" y="74056"/>
                      <a:pt x="278667" y="83196"/>
                    </a:cubicBezTo>
                    <a:cubicBezTo>
                      <a:pt x="269527" y="92335"/>
                      <a:pt x="257131" y="97470"/>
                      <a:pt x="244206" y="97470"/>
                    </a:cubicBezTo>
                    <a:lnTo>
                      <a:pt x="48735" y="97470"/>
                    </a:lnTo>
                    <a:cubicBezTo>
                      <a:pt x="35810" y="97470"/>
                      <a:pt x="23414" y="92335"/>
                      <a:pt x="14274" y="83196"/>
                    </a:cubicBezTo>
                    <a:cubicBezTo>
                      <a:pt x="5135" y="74056"/>
                      <a:pt x="0" y="61660"/>
                      <a:pt x="0" y="48735"/>
                    </a:cubicBezTo>
                    <a:lnTo>
                      <a:pt x="0" y="48735"/>
                    </a:lnTo>
                    <a:cubicBezTo>
                      <a:pt x="0" y="35810"/>
                      <a:pt x="5135" y="23414"/>
                      <a:pt x="14274" y="14274"/>
                    </a:cubicBezTo>
                    <a:cubicBezTo>
                      <a:pt x="23414" y="5135"/>
                      <a:pt x="35810" y="0"/>
                      <a:pt x="4873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292941" cy="106995"/>
              </a:xfrm>
              <a:prstGeom prst="rect">
                <a:avLst/>
              </a:prstGeom>
            </p:spPr>
            <p:txBody>
              <a:bodyPr lIns="18688" tIns="18688" rIns="18688" bIns="18688" rtlCol="0" anchor="ctr"/>
              <a:lstStyle/>
              <a:p>
                <a:pPr algn="ctr">
                  <a:lnSpc>
                    <a:spcPts val="231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897158" y="599984"/>
              <a:ext cx="1841689" cy="410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</a:pPr>
              <a:r>
                <a:rPr lang="en-US" sz="1898" b="1">
                  <a:solidFill>
                    <a:srgbClr val="26262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2025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284416" y="4891805"/>
            <a:ext cx="11719169" cy="179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13"/>
              </a:lnSpc>
            </a:pPr>
            <a:r>
              <a:rPr lang="en-US" sz="15317">
                <a:solidFill>
                  <a:srgbClr val="619BCC"/>
                </a:solidFill>
                <a:latin typeface="RQND Pro Wide"/>
                <a:ea typeface="RQND Pro Wide"/>
                <a:cs typeface="RQND Pro Wide"/>
                <a:sym typeface="RQND Pro Wid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839</Words>
  <Application>Microsoft Office PowerPoint</Application>
  <PresentationFormat>Custom</PresentationFormat>
  <Paragraphs>133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Arsenal Bold</vt:lpstr>
      <vt:lpstr>Lovelo</vt:lpstr>
      <vt:lpstr>Montserrat Bold</vt:lpstr>
      <vt:lpstr>Calibri</vt:lpstr>
      <vt:lpstr>RQND Pro Wide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datanyx ppt template</dc:title>
  <dc:creator>Umair</dc:creator>
  <cp:lastModifiedBy>~ Abubakr</cp:lastModifiedBy>
  <cp:revision>12</cp:revision>
  <dcterms:created xsi:type="dcterms:W3CDTF">2006-08-16T00:00:00Z</dcterms:created>
  <dcterms:modified xsi:type="dcterms:W3CDTF">2025-11-29T14:32:40Z</dcterms:modified>
  <dc:identifier>DAG0XlqmjJ4</dc:identifier>
</cp:coreProperties>
</file>